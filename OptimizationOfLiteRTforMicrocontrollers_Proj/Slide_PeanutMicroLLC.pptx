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82" r:id="rId1"/>
  </p:sldMasterIdLst>
  <p:notesMasterIdLst>
    <p:notesMasterId r:id="rId3"/>
  </p:notesMasterIdLst>
  <p:sldIdLst>
    <p:sldId id="287" r:id="rId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68"/>
  </p:normalViewPr>
  <p:slideViewPr>
    <p:cSldViewPr snapToGrid="0">
      <p:cViewPr varScale="1">
        <p:scale>
          <a:sx n="104" d="100"/>
          <a:sy n="104" d="100"/>
        </p:scale>
        <p:origin x="100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10775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r"/>
            <a:fld id="{00000000-1234-1234-1234-123412341234}" type="slidenum">
              <a:rPr lang="en-US"/>
              <a:pPr algn="r"/>
              <a:t>1</a:t>
            </a:fld>
            <a:endParaRPr/>
          </a:p>
        </p:txBody>
      </p:sp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4575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685800" y="152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685800" y="1600200"/>
            <a:ext cx="77724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5724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6858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371600" y="29718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286000" y="0"/>
            <a:ext cx="6858000" cy="533400"/>
          </a:xfrm>
          <a:prstGeom prst="rect">
            <a:avLst/>
          </a:prstGeom>
          <a:solidFill>
            <a:srgbClr val="6C9D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/>
          </a:p>
        </p:txBody>
      </p:sp>
      <p:sp>
        <p:nvSpPr>
          <p:cNvPr id="23" name="Google Shape;23;p3"/>
          <p:cNvSpPr/>
          <p:nvPr/>
        </p:nvSpPr>
        <p:spPr>
          <a:xfrm>
            <a:off x="0" y="0"/>
            <a:ext cx="2286000" cy="533400"/>
          </a:xfrm>
          <a:prstGeom prst="rect">
            <a:avLst/>
          </a:prstGeom>
          <a:solidFill>
            <a:srgbClr val="E4701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/>
          </a:p>
        </p:txBody>
      </p:sp>
      <p:cxnSp>
        <p:nvCxnSpPr>
          <p:cNvPr id="24" name="Google Shape;24;p3"/>
          <p:cNvCxnSpPr/>
          <p:nvPr/>
        </p:nvCxnSpPr>
        <p:spPr>
          <a:xfrm>
            <a:off x="0" y="53340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Google Shape;25;p3"/>
          <p:cNvCxnSpPr/>
          <p:nvPr/>
        </p:nvCxnSpPr>
        <p:spPr>
          <a:xfrm>
            <a:off x="2286000" y="0"/>
            <a:ext cx="0" cy="533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Google Shape;26;p3"/>
          <p:cNvSpPr txBox="1"/>
          <p:nvPr/>
        </p:nvSpPr>
        <p:spPr>
          <a:xfrm>
            <a:off x="2438400" y="120650"/>
            <a:ext cx="6172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solidFill>
                  <a:srgbClr val="FFFFFF"/>
                </a:solidFill>
              </a:rPr>
              <a:t>Erik Jonsson School of Engineering &amp; Computer Science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/>
          </a:p>
        </p:txBody>
      </p:sp>
      <p:sp>
        <p:nvSpPr>
          <p:cNvPr id="28" name="Google Shape;28;p3"/>
          <p:cNvSpPr txBox="1"/>
          <p:nvPr/>
        </p:nvSpPr>
        <p:spPr>
          <a:xfrm>
            <a:off x="152400" y="6430963"/>
            <a:ext cx="3962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FEARLESS</a:t>
            </a:r>
            <a:r>
              <a:rPr lang="en-US" sz="1200">
                <a:solidFill>
                  <a:srgbClr val="FFFFFF"/>
                </a:solidFill>
              </a:rPr>
              <a:t> engineering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29" name="Google Shape;29;p3" descr="utd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58200" y="6400800"/>
            <a:ext cx="563563" cy="241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0;p3"/>
          <p:cNvCxnSpPr/>
          <p:nvPr/>
        </p:nvCxnSpPr>
        <p:spPr>
          <a:xfrm>
            <a:off x="0" y="624840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" name="Google Shape;31;p3" descr="UTD_wdmk_rev.e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52400"/>
            <a:ext cx="1219200" cy="248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740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9960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685800" y="152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685800" y="1600200"/>
            <a:ext cx="38100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38100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8987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1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85800" y="152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7108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177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431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0345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685800" y="152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 rot="5400000">
            <a:off x="3009900" y="-723900"/>
            <a:ext cx="31242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1646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title"/>
          </p:nvPr>
        </p:nvSpPr>
        <p:spPr>
          <a:xfrm rot="5400000">
            <a:off x="5200650" y="1466850"/>
            <a:ext cx="45720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 rot="5400000">
            <a:off x="1238250" y="-400050"/>
            <a:ext cx="45720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4372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9D3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85800" y="1524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85800" y="1600200"/>
            <a:ext cx="77724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/>
          </a:p>
        </p:txBody>
      </p:sp>
      <p:sp>
        <p:nvSpPr>
          <p:cNvPr id="13" name="Google Shape;13;p1"/>
          <p:cNvSpPr txBox="1"/>
          <p:nvPr/>
        </p:nvSpPr>
        <p:spPr>
          <a:xfrm>
            <a:off x="152400" y="6430963"/>
            <a:ext cx="3962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FEARLESS</a:t>
            </a:r>
            <a:r>
              <a:rPr lang="en-US" sz="1200">
                <a:solidFill>
                  <a:srgbClr val="FFFFFF"/>
                </a:solidFill>
              </a:rPr>
              <a:t> engineering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14" name="Google Shape;14;p1" descr="utdlogo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58200" y="6400800"/>
            <a:ext cx="563563" cy="2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0" y="914400"/>
            <a:ext cx="9144000" cy="53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0684387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30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dirty="0"/>
              <a:t>Optimization of </a:t>
            </a:r>
            <a:r>
              <a:rPr lang="en-US" sz="3200" b="0" dirty="0" err="1"/>
              <a:t>LiteRT</a:t>
            </a:r>
            <a:r>
              <a:rPr lang="en-US" sz="3200" b="0" dirty="0"/>
              <a:t> Micro for RISC-V</a:t>
            </a:r>
            <a:endParaRPr sz="3200" b="0" dirty="0"/>
          </a:p>
        </p:txBody>
      </p:sp>
      <p:sp>
        <p:nvSpPr>
          <p:cNvPr id="69" name="Google Shape;69;p13"/>
          <p:cNvSpPr txBox="1"/>
          <p:nvPr/>
        </p:nvSpPr>
        <p:spPr>
          <a:xfrm>
            <a:off x="152399" y="1367898"/>
            <a:ext cx="5981089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dirty="0"/>
          </a:p>
          <a:p>
            <a:r>
              <a:rPr lang="en-US" b="1" dirty="0"/>
              <a:t>Goal: Improve the performance of bottleneck </a:t>
            </a:r>
            <a:r>
              <a:rPr lang="en-US" b="1" dirty="0" err="1"/>
              <a:t>TinyML</a:t>
            </a:r>
            <a:r>
              <a:rPr lang="en-US" b="1" dirty="0"/>
              <a:t> operations by developing optimized TensorFlow Lite Micro kernels that leverage RISC-V Vector instructions to enable faster, more energy efficient edge computing machine learning </a:t>
            </a:r>
            <a:endParaRPr dirty="0"/>
          </a:p>
        </p:txBody>
      </p:sp>
      <p:sp>
        <p:nvSpPr>
          <p:cNvPr id="70" name="Google Shape;70;p13"/>
          <p:cNvSpPr txBox="1"/>
          <p:nvPr/>
        </p:nvSpPr>
        <p:spPr>
          <a:xfrm>
            <a:off x="3124200" y="3352800"/>
            <a:ext cx="18466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2400"/>
          </a:p>
        </p:txBody>
      </p:sp>
      <p:sp>
        <p:nvSpPr>
          <p:cNvPr id="74" name="Google Shape;74;p13"/>
          <p:cNvSpPr txBox="1"/>
          <p:nvPr/>
        </p:nvSpPr>
        <p:spPr>
          <a:xfrm>
            <a:off x="246312" y="2526977"/>
            <a:ext cx="3524023" cy="2004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Approach</a:t>
            </a:r>
            <a:r>
              <a:rPr lang="en-US" dirty="0"/>
              <a:t>: </a:t>
            </a:r>
          </a:p>
          <a:p>
            <a:pPr marL="285750" indent="-285750">
              <a:buSzPts val="1400"/>
              <a:buFont typeface="Arial"/>
              <a:buChar char="•"/>
            </a:pPr>
            <a:r>
              <a:rPr lang="en-US" sz="1200" dirty="0"/>
              <a:t>Identified bottleneck </a:t>
            </a:r>
            <a:r>
              <a:rPr lang="en-US" sz="1200" dirty="0" err="1"/>
              <a:t>TinyML</a:t>
            </a:r>
            <a:r>
              <a:rPr lang="en-US" sz="1200" dirty="0"/>
              <a:t> </a:t>
            </a:r>
            <a:r>
              <a:rPr lang="en-US" sz="1200" dirty="0" err="1"/>
              <a:t>operationsor</a:t>
            </a:r>
            <a:r>
              <a:rPr lang="en-US" sz="1200" dirty="0"/>
              <a:t> kernels used in speech and person detection benchmarks</a:t>
            </a:r>
          </a:p>
          <a:p>
            <a:pPr marL="285750" indent="-285750">
              <a:buSzPts val="1400"/>
              <a:buFont typeface="Arial"/>
              <a:buChar char="•"/>
            </a:pPr>
            <a:r>
              <a:rPr lang="en-US" sz="1200" dirty="0"/>
              <a:t>Implemented RISC-V vector intrinsic versions of bottleneck kernels </a:t>
            </a:r>
          </a:p>
          <a:p>
            <a:pPr marL="285750" indent="-285750">
              <a:buSzPts val="1400"/>
              <a:buFont typeface="Arial"/>
              <a:buChar char="•"/>
            </a:pPr>
            <a:r>
              <a:rPr lang="en-US" sz="1200" dirty="0"/>
              <a:t>Evaluate performance for three different kernel code implementation or execution methods with performance script:</a:t>
            </a:r>
          </a:p>
          <a:p>
            <a:pPr marL="914400" lvl="1" indent="-317500">
              <a:buSzPts val="1400"/>
              <a:buFont typeface="Arial"/>
              <a:buChar char="○"/>
            </a:pPr>
            <a:r>
              <a:rPr lang="en-US" sz="1200" dirty="0"/>
              <a:t>Scalar, Auto-vectorized, and RISC-V intrinsic implementation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D73110-D718-4A41-9BAC-A3D59132A45D}"/>
              </a:ext>
            </a:extLst>
          </p:cNvPr>
          <p:cNvCxnSpPr/>
          <p:nvPr/>
        </p:nvCxnSpPr>
        <p:spPr>
          <a:xfrm flipV="1">
            <a:off x="175332" y="1305017"/>
            <a:ext cx="8610590" cy="6955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0E237C-EA3E-2506-351A-038693367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090" y="-266708"/>
            <a:ext cx="1705948" cy="1705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AFDD73-EF9D-6723-D957-609F935FD03D}"/>
              </a:ext>
            </a:extLst>
          </p:cNvPr>
          <p:cNvSpPr txBox="1"/>
          <p:nvPr/>
        </p:nvSpPr>
        <p:spPr>
          <a:xfrm>
            <a:off x="93250" y="845446"/>
            <a:ext cx="14540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James Whitfield</a:t>
            </a:r>
            <a:endParaRPr lang="pl-PL" b="0" dirty="0">
              <a:effectLst/>
            </a:endParaRPr>
          </a:p>
          <a:p>
            <a:pPr>
              <a:buNone/>
            </a:pPr>
            <a:br>
              <a:rPr lang="pl-PL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D2C0F-3928-B885-280A-7BA41D98CEBE}"/>
              </a:ext>
            </a:extLst>
          </p:cNvPr>
          <p:cNvSpPr txBox="1"/>
          <p:nvPr/>
        </p:nvSpPr>
        <p:spPr>
          <a:xfrm>
            <a:off x="1465187" y="845446"/>
            <a:ext cx="13368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dirty="0">
                <a:latin typeface="Arial" panose="020B0604020202020204" pitchFamily="34" charset="0"/>
              </a:rPr>
              <a:t>Alec Freeman</a:t>
            </a:r>
            <a:endParaRPr lang="pl-PL" b="0" dirty="0">
              <a:effectLst/>
            </a:endParaRPr>
          </a:p>
          <a:p>
            <a:pPr>
              <a:buNone/>
            </a:pPr>
            <a:br>
              <a:rPr lang="pl-PL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22E03-CD1D-0AEE-5678-13EBF06D459B}"/>
              </a:ext>
            </a:extLst>
          </p:cNvPr>
          <p:cNvSpPr txBox="1"/>
          <p:nvPr/>
        </p:nvSpPr>
        <p:spPr>
          <a:xfrm>
            <a:off x="2884094" y="845446"/>
            <a:ext cx="13368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Ollie Rayo</a:t>
            </a:r>
            <a:endParaRPr lang="pl-PL" b="0" dirty="0">
              <a:effectLst/>
            </a:endParaRPr>
          </a:p>
          <a:p>
            <a:pPr>
              <a:buNone/>
            </a:pPr>
            <a:br>
              <a:rPr lang="pl-PL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F61520-B3E0-1E48-2D0F-E691EF14FCEC}"/>
              </a:ext>
            </a:extLst>
          </p:cNvPr>
          <p:cNvSpPr txBox="1"/>
          <p:nvPr/>
        </p:nvSpPr>
        <p:spPr>
          <a:xfrm>
            <a:off x="4220919" y="848227"/>
            <a:ext cx="1705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Avinash Mandala</a:t>
            </a:r>
            <a:br>
              <a:rPr lang="pl-PL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C0533-D6BB-B2E1-B8B3-8E4BFB5F9F6A}"/>
              </a:ext>
            </a:extLst>
          </p:cNvPr>
          <p:cNvSpPr txBox="1"/>
          <p:nvPr/>
        </p:nvSpPr>
        <p:spPr>
          <a:xfrm>
            <a:off x="5722594" y="851893"/>
            <a:ext cx="13368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James Dong</a:t>
            </a:r>
            <a:endParaRPr lang="pl-PL" b="0" dirty="0">
              <a:effectLst/>
            </a:endParaRPr>
          </a:p>
          <a:p>
            <a:pPr>
              <a:buNone/>
            </a:pPr>
            <a:br>
              <a:rPr lang="pl-PL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DC9421-CE17-1E41-F371-360A913FDEC0}"/>
              </a:ext>
            </a:extLst>
          </p:cNvPr>
          <p:cNvSpPr txBox="1"/>
          <p:nvPr/>
        </p:nvSpPr>
        <p:spPr>
          <a:xfrm>
            <a:off x="98787" y="1106287"/>
            <a:ext cx="13368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dirty="0">
                <a:latin typeface="Arial" panose="020B0604020202020204" pitchFamily="34" charset="0"/>
              </a:rPr>
              <a:t>Jack Liau</a:t>
            </a:r>
            <a:endParaRPr lang="pl-PL" b="0" dirty="0">
              <a:effectLst/>
            </a:endParaRPr>
          </a:p>
          <a:p>
            <a:pPr>
              <a:buNone/>
            </a:pPr>
            <a:br>
              <a:rPr lang="pl-PL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9E4288-2157-02E3-4539-2EE4052FB44A}"/>
              </a:ext>
            </a:extLst>
          </p:cNvPr>
          <p:cNvSpPr txBox="1"/>
          <p:nvPr/>
        </p:nvSpPr>
        <p:spPr>
          <a:xfrm>
            <a:off x="1216655" y="1106287"/>
            <a:ext cx="1614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b="0" dirty="0">
                <a:effectLst/>
                <a:latin typeface="Arial" panose="020B0604020202020204" pitchFamily="34" charset="0"/>
              </a:rPr>
              <a:t>Akhilesh Vem</a:t>
            </a:r>
            <a:r>
              <a:rPr lang="en-US" dirty="0">
                <a:latin typeface="Arial" panose="020B0604020202020204" pitchFamily="34" charset="0"/>
              </a:rPr>
              <a:t>uri</a:t>
            </a:r>
            <a:endParaRPr lang="pl-PL" b="0" dirty="0">
              <a:effectLst/>
            </a:endParaRPr>
          </a:p>
          <a:p>
            <a:pPr>
              <a:buNone/>
            </a:pPr>
            <a:br>
              <a:rPr lang="pl-PL" dirty="0"/>
            </a:b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0E810AA-4165-BC9C-F256-280B9C891A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93" r="43420"/>
          <a:stretch>
            <a:fillRect/>
          </a:stretch>
        </p:blipFill>
        <p:spPr>
          <a:xfrm>
            <a:off x="6763617" y="1432587"/>
            <a:ext cx="2347442" cy="4573519"/>
          </a:xfrm>
          <a:prstGeom prst="rect">
            <a:avLst/>
          </a:prstGeom>
        </p:spPr>
      </p:pic>
      <p:sp>
        <p:nvSpPr>
          <p:cNvPr id="18" name="Google Shape;74;p13">
            <a:extLst>
              <a:ext uri="{FF2B5EF4-FFF2-40B4-BE49-F238E27FC236}">
                <a16:creationId xmlns:a16="http://schemas.microsoft.com/office/drawing/2014/main" id="{0D318D85-F6AD-99BD-548A-03D043F1E693}"/>
              </a:ext>
            </a:extLst>
          </p:cNvPr>
          <p:cNvSpPr txBox="1"/>
          <p:nvPr/>
        </p:nvSpPr>
        <p:spPr>
          <a:xfrm>
            <a:off x="148333" y="4531798"/>
            <a:ext cx="2927804" cy="125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Primary/Effective operations optimized in total:</a:t>
            </a:r>
            <a:endParaRPr lang="en-US" dirty="0"/>
          </a:p>
          <a:p>
            <a:pPr marL="285750" indent="-285750">
              <a:buSzPts val="1400"/>
              <a:buFont typeface="Arial"/>
              <a:buChar char="•"/>
            </a:pPr>
            <a:r>
              <a:rPr lang="en-US" sz="1200" dirty="0" err="1"/>
              <a:t>Depthwise</a:t>
            </a:r>
            <a:r>
              <a:rPr lang="en-US" sz="1200" dirty="0"/>
              <a:t> Convolution</a:t>
            </a:r>
          </a:p>
          <a:p>
            <a:pPr marL="285750" indent="-285750">
              <a:buSzPts val="1400"/>
              <a:buFont typeface="Arial"/>
              <a:buChar char="•"/>
            </a:pPr>
            <a:r>
              <a:rPr lang="en-US" sz="1200" dirty="0"/>
              <a:t>Fully Connected</a:t>
            </a:r>
          </a:p>
          <a:p>
            <a:pPr marL="285750" indent="-285750">
              <a:buSzPts val="1400"/>
              <a:buFont typeface="Arial"/>
              <a:buChar char="•"/>
            </a:pPr>
            <a:r>
              <a:rPr lang="en-US" sz="1200" dirty="0" err="1"/>
              <a:t>Softmax</a:t>
            </a:r>
            <a:endParaRPr lang="en-US" sz="1200" dirty="0"/>
          </a:p>
          <a:p>
            <a:pPr marL="285750" indent="-285750">
              <a:buSzPts val="1400"/>
              <a:buFont typeface="Arial"/>
              <a:buChar char="•"/>
            </a:pPr>
            <a:r>
              <a:rPr lang="en-US" sz="1200" dirty="0"/>
              <a:t>RFFT</a:t>
            </a:r>
          </a:p>
          <a:p>
            <a:pPr marL="285750" indent="-285750">
              <a:buSzPts val="1400"/>
              <a:buFont typeface="Arial"/>
              <a:buChar char="•"/>
            </a:pPr>
            <a:r>
              <a:rPr lang="en-US" sz="1200" dirty="0"/>
              <a:t>Filter Bank</a:t>
            </a:r>
          </a:p>
          <a:p>
            <a:pPr marL="285750" indent="-285750">
              <a:buSzPts val="1400"/>
              <a:buFont typeface="Arial"/>
              <a:buChar char="•"/>
            </a:pPr>
            <a:r>
              <a:rPr lang="en-US" sz="1200" dirty="0"/>
              <a:t>Pooling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91FDBA9-CDB2-B5C8-CA74-B23B36522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785" y="3969889"/>
            <a:ext cx="3295617" cy="203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36A44F0-3FFA-6A32-8C08-E247E7DC2DA4}"/>
              </a:ext>
            </a:extLst>
          </p:cNvPr>
          <p:cNvSpPr txBox="1"/>
          <p:nvPr/>
        </p:nvSpPr>
        <p:spPr>
          <a:xfrm>
            <a:off x="3701063" y="3745987"/>
            <a:ext cx="1755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Speedup example</a:t>
            </a:r>
            <a:r>
              <a:rPr lang="en-US" dirty="0"/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24BF79-536A-6E75-4D82-6461E6F58355}"/>
              </a:ext>
            </a:extLst>
          </p:cNvPr>
          <p:cNvSpPr txBox="1"/>
          <p:nvPr/>
        </p:nvSpPr>
        <p:spPr>
          <a:xfrm>
            <a:off x="6763617" y="1191323"/>
            <a:ext cx="3679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RISC-V Processor Execution/Performance</a:t>
            </a:r>
          </a:p>
        </p:txBody>
      </p:sp>
    </p:spTree>
    <p:extLst>
      <p:ext uri="{BB962C8B-B14F-4D97-AF65-F5344CB8AC3E}">
        <p14:creationId xmlns:p14="http://schemas.microsoft.com/office/powerpoint/2010/main" val="2593093184"/>
      </p:ext>
    </p:extLst>
  </p:cSld>
  <p:clrMapOvr>
    <a:masterClrMapping/>
  </p:clrMapOvr>
</p:sld>
</file>

<file path=ppt/theme/theme1.xml><?xml version="1.0" encoding="utf-8"?>
<a:theme xmlns:a="http://schemas.openxmlformats.org/drawingml/2006/main" name="2_ECS-whitebackground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130</Words>
  <Application>Microsoft Office PowerPoint</Application>
  <PresentationFormat>On-screen Show (4:3)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2_ECS-whitebackground</vt:lpstr>
      <vt:lpstr>Optimization of LiteRT Micro for RISC-V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Alec Freeman</cp:lastModifiedBy>
  <cp:revision>1</cp:revision>
  <dcterms:modified xsi:type="dcterms:W3CDTF">2026-09-22T02:40:33Z</dcterms:modified>
</cp:coreProperties>
</file>